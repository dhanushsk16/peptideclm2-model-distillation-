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600" b="1">
                <a:solidFill>
                  <a:srgbClr val="1A1A2E"/>
                </a:solidFill>
                <a:latin typeface="Segoe UI"/>
              </a:rPr>
              <a:t>Teaching a small AI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600" b="1">
                <a:solidFill>
                  <a:srgbClr val="2D6AA3"/>
                </a:solidFill>
                <a:latin typeface="Segoe UI"/>
              </a:rPr>
              <a:t>to think like a big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389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A5A6E"/>
                </a:solidFill>
                <a:latin typeface="Segoe UI"/>
              </a:rPr>
              <a:t>Knowledge distillation for peptide drug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A1A2E"/>
                </a:solidFill>
                <a:latin typeface="Segoe UI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463040" cy="54864"/>
          </a:xfrm>
          <a:prstGeom prst="rect">
            <a:avLst/>
          </a:prstGeom>
          <a:solidFill>
            <a:srgbClr val="2D6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2E"/>
                </a:solidFill>
                <a:latin typeface="Segoe UI"/>
              </a:rPr>
              <a:t>Scientists use AI to predict whether a drug molecule will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49377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1A1A2E"/>
                </a:solidFill>
                <a:latin typeface="Segoe UI"/>
              </a:rPr>
              <a:t>The big model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337 million parameters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Accurate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Slow and expensive to run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Needs serious hardware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468880"/>
            <a:ext cx="49377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2D6AA3"/>
                </a:solidFill>
                <a:latin typeface="Segoe UI"/>
              </a:rPr>
              <a:t>The small model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32 million parameters — 10x smaller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Fast and cheap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Noticeably less accurate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Runs on a laptop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A1A2E"/>
                </a:solidFill>
                <a:latin typeface="Segoe UI"/>
              </a:rPr>
              <a:t>Can we get the accuracy of the big one at the size of the small one?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A1A2E"/>
                </a:solidFill>
                <a:latin typeface="Segoe UI"/>
              </a:rPr>
              <a:t>The idea: teacher and student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463040" cy="54864"/>
          </a:xfrm>
          <a:prstGeom prst="rect">
            <a:avLst/>
          </a:prstGeom>
          <a:solidFill>
            <a:srgbClr val="2D6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2E"/>
                </a:solidFill>
                <a:latin typeface="Segoe UI"/>
              </a:rPr>
              <a:t>Instead of training the small model from scratch, we let it learn from the big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200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1A1A2E"/>
                </a:solidFill>
                <a:latin typeface="Segoe UI"/>
              </a:rPr>
              <a:t>Teacher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The 337M model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Already trained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Never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743200"/>
            <a:ext cx="3200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2D6AA3"/>
                </a:solidFill>
                <a:latin typeface="Segoe UI"/>
              </a:rPr>
              <a:t>Student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The 32M model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Learns to copy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the teacher's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743200"/>
            <a:ext cx="3200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1E7A53"/>
                </a:solidFill>
                <a:latin typeface="Segoe UI"/>
              </a:rPr>
              <a:t>Why it helps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The teacher shows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its reasoning, not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just the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5A5A6E"/>
                </a:solidFill>
                <a:latin typeface="Segoe UI"/>
              </a:rPr>
              <a:t>A teacher who explains why an answer is right teaches more than an answer key.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A1A2E"/>
                </a:solidFill>
                <a:latin typeface="Segoe UI"/>
              </a:rPr>
              <a:t>What the student is asked to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463040" cy="54864"/>
          </a:xfrm>
          <a:prstGeom prst="rect">
            <a:avLst/>
          </a:prstGeom>
          <a:solidFill>
            <a:srgbClr val="2D6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10515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i="1" b="1">
                <a:solidFill>
                  <a:srgbClr val="1A1A2E"/>
                </a:solidFill>
                <a:latin typeface="Cambria Math"/>
              </a:rPr>
              <a:t>L</a:t>
            </a:r>
            <a:r>
              <a:rPr sz="3000" i="0" b="0">
                <a:solidFill>
                  <a:srgbClr val="5A5A6E"/>
                </a:solidFill>
                <a:latin typeface="Cambria Math"/>
              </a:rPr>
              <a:t>  =  </a:t>
            </a:r>
            <a:r>
              <a:rPr sz="3000" i="0" b="0">
                <a:solidFill>
                  <a:srgbClr val="2D6AA3"/>
                </a:solidFill>
                <a:latin typeface="Cambria Math"/>
              </a:rPr>
              <a:t>0.30</a:t>
            </a:r>
            <a:r>
              <a:rPr sz="3000" i="0" b="0">
                <a:solidFill>
                  <a:srgbClr val="5A5A6E"/>
                </a:solidFill>
                <a:latin typeface="Cambria Math"/>
              </a:rPr>
              <a:t> · </a:t>
            </a:r>
            <a:r>
              <a:rPr sz="3000" i="1" b="1">
                <a:solidFill>
                  <a:srgbClr val="1A1A2E"/>
                </a:solidFill>
                <a:latin typeface="Cambria Math"/>
              </a:rPr>
              <a:t>L</a:t>
            </a:r>
            <a:r>
              <a:rPr sz="1700" i="0" b="0">
                <a:solidFill>
                  <a:srgbClr val="1A1A2E"/>
                </a:solidFill>
                <a:latin typeface="Cambria Math"/>
              </a:rPr>
              <a:t>KD</a:t>
            </a:r>
            <a:r>
              <a:rPr sz="3000" i="0" b="0">
                <a:solidFill>
                  <a:srgbClr val="5A5A6E"/>
                </a:solidFill>
                <a:latin typeface="Cambria Math"/>
              </a:rPr>
              <a:t>   +   </a:t>
            </a:r>
            <a:r>
              <a:rPr sz="3000" i="0" b="0">
                <a:solidFill>
                  <a:srgbClr val="2D6AA3"/>
                </a:solidFill>
                <a:latin typeface="Cambria Math"/>
              </a:rPr>
              <a:t>0.30</a:t>
            </a:r>
            <a:r>
              <a:rPr sz="3000" i="0" b="0">
                <a:solidFill>
                  <a:srgbClr val="5A5A6E"/>
                </a:solidFill>
                <a:latin typeface="Cambria Math"/>
              </a:rPr>
              <a:t> · </a:t>
            </a:r>
            <a:r>
              <a:rPr sz="3000" i="1" b="1">
                <a:solidFill>
                  <a:srgbClr val="1A1A2E"/>
                </a:solidFill>
                <a:latin typeface="Cambria Math"/>
              </a:rPr>
              <a:t>L</a:t>
            </a:r>
            <a:r>
              <a:rPr sz="1700" i="0" b="0">
                <a:solidFill>
                  <a:srgbClr val="1A1A2E"/>
                </a:solidFill>
                <a:latin typeface="Cambria Math"/>
              </a:rPr>
              <a:t>MTR</a:t>
            </a:r>
            <a:r>
              <a:rPr sz="3000" i="0" b="0">
                <a:solidFill>
                  <a:srgbClr val="5A5A6E"/>
                </a:solidFill>
                <a:latin typeface="Cambria Math"/>
              </a:rPr>
              <a:t>   +   </a:t>
            </a:r>
            <a:r>
              <a:rPr sz="3000" i="0" b="0">
                <a:solidFill>
                  <a:srgbClr val="2D6AA3"/>
                </a:solidFill>
                <a:latin typeface="Cambria Math"/>
              </a:rPr>
              <a:t>0.40</a:t>
            </a:r>
            <a:r>
              <a:rPr sz="3000" i="0" b="0">
                <a:solidFill>
                  <a:srgbClr val="5A5A6E"/>
                </a:solidFill>
                <a:latin typeface="Cambria Math"/>
              </a:rPr>
              <a:t> · </a:t>
            </a:r>
            <a:r>
              <a:rPr sz="3000" i="1" b="1">
                <a:solidFill>
                  <a:srgbClr val="1A1A2E"/>
                </a:solidFill>
                <a:latin typeface="Cambria Math"/>
              </a:rPr>
              <a:t>L</a:t>
            </a:r>
            <a:r>
              <a:rPr sz="1700" i="0" b="0">
                <a:solidFill>
                  <a:srgbClr val="1A1A2E"/>
                </a:solidFill>
                <a:latin typeface="Cambria Math"/>
              </a:rPr>
              <a:t>SPKD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5A5A6E"/>
                </a:solidFill>
                <a:latin typeface="Segoe UI"/>
              </a:rPr>
              <a:t>Three lessons, taught at the same time. The numbers are how much each one 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7472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1A1A2E"/>
                </a:solidFill>
                <a:latin typeface="Segoe UI"/>
              </a:rPr>
              <a:t>Lₖₑ  —  copy the teacher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The teacher predicts a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hidden part of a molecule.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The student must predict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the same 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47472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2D6AA3"/>
                </a:solidFill>
                <a:latin typeface="Segoe UI"/>
              </a:rPr>
              <a:t>Lₘₜᵣ  —  learn chemistry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99 real chemical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properties of the molecule.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Facts, not opinions —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no teacher needed.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47472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1E7A53"/>
                </a:solidFill>
                <a:latin typeface="Segoe UI"/>
              </a:rPr>
              <a:t>Lₛₚ  —  keep relationships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If the teacher thinks two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molecules are similar,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the student must think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so too.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A1A2E"/>
                </a:solidFill>
                <a:latin typeface="Segoe UI"/>
              </a:rPr>
              <a:t>Making it a fair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463040" cy="54864"/>
          </a:xfrm>
          <a:prstGeom prst="rect">
            <a:avLst/>
          </a:prstGeom>
          <a:solidFill>
            <a:srgbClr val="2D6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2E"/>
                </a:solidFill>
                <a:latin typeface="Segoe UI"/>
              </a:rPr>
              <a:t>If the student improves, is it the teacher — or just more training?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5A5A6E"/>
                </a:solidFill>
                <a:latin typeface="Segoe UI"/>
              </a:rPr>
              <a:t>So we trained two students. Same starting point, same data, same number of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06040"/>
            <a:ext cx="493776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6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2D6AA3"/>
                </a:solidFill>
                <a:latin typeface="Segoe UI"/>
              </a:rPr>
              <a:t>Student A  —  with teacher</a:t>
            </a:r>
          </a:p>
          <a:p>
            <a:pPr algn="ctr"/>
            <a:r>
              <a:rPr sz="2100" i="1">
                <a:solidFill>
                  <a:srgbClr val="1A1A2E"/>
                </a:solidFill>
                <a:latin typeface="Cambria Math"/>
              </a:rPr>
              <a:t>L</a:t>
            </a:r>
            <a:r>
              <a:rPr sz="1700" i="0">
                <a:solidFill>
                  <a:srgbClr val="5A5A6E"/>
                </a:solidFill>
                <a:latin typeface="Cambria Math"/>
              </a:rPr>
              <a:t>  =  0.30 </a:t>
            </a:r>
            <a:r>
              <a:rPr sz="2100" i="1">
                <a:solidFill>
                  <a:srgbClr val="1A1A2E"/>
                </a:solidFill>
                <a:latin typeface="Cambria Math"/>
              </a:rPr>
              <a:t>L</a:t>
            </a:r>
            <a:r>
              <a:rPr sz="1100" i="0">
                <a:solidFill>
                  <a:srgbClr val="1A1A2E"/>
                </a:solidFill>
                <a:latin typeface="Cambria Math"/>
              </a:rPr>
              <a:t>KD</a:t>
            </a:r>
            <a:r>
              <a:rPr sz="1700" i="0">
                <a:solidFill>
                  <a:srgbClr val="5A5A6E"/>
                </a:solidFill>
                <a:latin typeface="Cambria Math"/>
              </a:rPr>
              <a:t>  +  0.30 </a:t>
            </a:r>
            <a:r>
              <a:rPr sz="2100" i="1">
                <a:solidFill>
                  <a:srgbClr val="1A1A2E"/>
                </a:solidFill>
                <a:latin typeface="Cambria Math"/>
              </a:rPr>
              <a:t>L</a:t>
            </a:r>
            <a:r>
              <a:rPr sz="1100" i="0">
                <a:solidFill>
                  <a:srgbClr val="1A1A2E"/>
                </a:solidFill>
                <a:latin typeface="Cambria Math"/>
              </a:rPr>
              <a:t>MTR</a:t>
            </a:r>
            <a:r>
              <a:rPr sz="1700" i="0">
                <a:solidFill>
                  <a:srgbClr val="5A5A6E"/>
                </a:solidFill>
                <a:latin typeface="Cambria Math"/>
              </a:rPr>
              <a:t>  +  0.40 </a:t>
            </a:r>
            <a:r>
              <a:rPr sz="2100" i="1">
                <a:solidFill>
                  <a:srgbClr val="1A1A2E"/>
                </a:solidFill>
                <a:latin typeface="Cambria Math"/>
              </a:rPr>
              <a:t>L</a:t>
            </a:r>
            <a:r>
              <a:rPr sz="1100" i="0">
                <a:solidFill>
                  <a:srgbClr val="1A1A2E"/>
                </a:solidFill>
                <a:latin typeface="Cambria Math"/>
              </a:rPr>
              <a:t>SPKD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606040"/>
            <a:ext cx="493776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A8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1A1A2E"/>
                </a:solidFill>
                <a:latin typeface="Segoe UI"/>
              </a:rPr>
              <a:t>Student B  —  no teacher</a:t>
            </a:r>
          </a:p>
          <a:p>
            <a:pPr algn="ctr"/>
            <a:r>
              <a:rPr sz="2100" i="1">
                <a:solidFill>
                  <a:srgbClr val="1A1A2E"/>
                </a:solidFill>
                <a:latin typeface="Cambria Math"/>
              </a:rPr>
              <a:t>L</a:t>
            </a:r>
            <a:r>
              <a:rPr sz="1700" i="0">
                <a:solidFill>
                  <a:srgbClr val="5A5A6E"/>
                </a:solidFill>
                <a:latin typeface="Cambria Math"/>
              </a:rPr>
              <a:t>  =  0.70 </a:t>
            </a:r>
            <a:r>
              <a:rPr sz="2100" i="1">
                <a:solidFill>
                  <a:srgbClr val="1A1A2E"/>
                </a:solidFill>
                <a:latin typeface="Cambria Math"/>
              </a:rPr>
              <a:t>L</a:t>
            </a:r>
            <a:r>
              <a:rPr sz="1100" i="0">
                <a:solidFill>
                  <a:srgbClr val="1A1A2E"/>
                </a:solidFill>
                <a:latin typeface="Cambria Math"/>
              </a:rPr>
              <a:t>MLM</a:t>
            </a:r>
            <a:r>
              <a:rPr sz="1700" i="0">
                <a:solidFill>
                  <a:srgbClr val="5A5A6E"/>
                </a:solidFill>
                <a:latin typeface="Cambria Math"/>
              </a:rPr>
              <a:t>  +  0.30 </a:t>
            </a:r>
            <a:r>
              <a:rPr sz="2100" i="1">
                <a:solidFill>
                  <a:srgbClr val="1A1A2E"/>
                </a:solidFill>
                <a:latin typeface="Cambria Math"/>
              </a:rPr>
              <a:t>L</a:t>
            </a:r>
            <a:r>
              <a:rPr sz="1100" i="0">
                <a:solidFill>
                  <a:srgbClr val="1A1A2E"/>
                </a:solidFill>
                <a:latin typeface="Cambria Math"/>
              </a:rPr>
              <a:t>MTR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06240"/>
            <a:ext cx="4937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2D6AA3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Learns the teacher's full distribution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over every possible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06240"/>
            <a:ext cx="4937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1A1A2E"/>
                </a:solidFill>
                <a:latin typeface="Segoe UI"/>
              </a:rPr>
              <a:t/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L_MLM: standard cross-entropy against the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one true token. No teacher involved.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1A1A2E"/>
                </a:solidFill>
                <a:latin typeface="Segoe UI"/>
              </a:rPr>
              <a:t>Same MTR term in both. The only difference is the teacher — so any gap is caused by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A1A2E"/>
                </a:solidFill>
                <a:latin typeface="Segoe UI"/>
              </a:rPr>
              <a:t>Did it 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463040" cy="54864"/>
          </a:xfrm>
          <a:prstGeom prst="rect">
            <a:avLst/>
          </a:prstGeom>
          <a:solidFill>
            <a:srgbClr val="2D6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5A5A6E"/>
                </a:solidFill>
                <a:latin typeface="Segoe UI"/>
              </a:rPr>
              <a:t>Metric: KL divergence between the teacher's and the student's predicted token distributions,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5A5A6E"/>
                </a:solidFill>
                <a:latin typeface="Segoe UI"/>
              </a:rPr>
              <a:t>averaged over masked positions. Lower = the student thinks more like the teacher.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05156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D6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/>
          <a:lstStyle/>
          <a:p>
            <a:pPr algn="ctr"/>
            <a:r>
              <a:rPr sz="2600" i="1">
                <a:solidFill>
                  <a:srgbClr val="1A1A2E"/>
                </a:solidFill>
                <a:latin typeface="Cambria Math"/>
              </a:rPr>
              <a:t>D</a:t>
            </a:r>
            <a:r>
              <a:rPr sz="1300" i="0">
                <a:solidFill>
                  <a:srgbClr val="1A1A2E"/>
                </a:solidFill>
                <a:latin typeface="Cambria Math"/>
              </a:rPr>
              <a:t>KL</a:t>
            </a:r>
            <a:r>
              <a:rPr sz="2600" i="0">
                <a:solidFill>
                  <a:srgbClr val="5A5A6E"/>
                </a:solidFill>
                <a:latin typeface="Cambria Math"/>
              </a:rPr>
              <a:t> ( </a:t>
            </a:r>
            <a:r>
              <a:rPr sz="2600" i="1">
                <a:solidFill>
                  <a:srgbClr val="2D6AA3"/>
                </a:solidFill>
                <a:latin typeface="Cambria Math"/>
              </a:rPr>
              <a:t>p</a:t>
            </a:r>
            <a:r>
              <a:rPr sz="1300" i="0">
                <a:solidFill>
                  <a:srgbClr val="2D6AA3"/>
                </a:solidFill>
                <a:latin typeface="Cambria Math"/>
              </a:rPr>
              <a:t>teacher</a:t>
            </a:r>
            <a:r>
              <a:rPr sz="2600" i="0">
                <a:solidFill>
                  <a:srgbClr val="5A5A6E"/>
                </a:solidFill>
                <a:latin typeface="Cambria Math"/>
              </a:rPr>
              <a:t>  ‖  </a:t>
            </a:r>
            <a:r>
              <a:rPr sz="2600" i="1">
                <a:solidFill>
                  <a:srgbClr val="1E7A53"/>
                </a:solidFill>
                <a:latin typeface="Cambria Math"/>
              </a:rPr>
              <a:t>q</a:t>
            </a:r>
            <a:r>
              <a:rPr sz="1300" i="0">
                <a:solidFill>
                  <a:srgbClr val="1E7A53"/>
                </a:solidFill>
                <a:latin typeface="Cambria Math"/>
              </a:rPr>
              <a:t>student</a:t>
            </a:r>
            <a:r>
              <a:rPr sz="2600" i="0">
                <a:solidFill>
                  <a:srgbClr val="5A5A6E"/>
                </a:solidFill>
                <a:latin typeface="Cambria Math"/>
              </a:rPr>
              <a:t> )   =   </a:t>
            </a:r>
            <a:r>
              <a:rPr sz="3000" i="0">
                <a:solidFill>
                  <a:srgbClr val="1A1A2E"/>
                </a:solidFill>
                <a:latin typeface="Cambria Math"/>
              </a:rPr>
              <a:t>Σ</a:t>
            </a:r>
            <a:r>
              <a:rPr sz="1300" i="0">
                <a:solidFill>
                  <a:srgbClr val="5A5A6E"/>
                </a:solidFill>
                <a:latin typeface="Cambria Math"/>
              </a:rPr>
              <a:t>v</a:t>
            </a:r>
            <a:r>
              <a:rPr sz="2600" i="0">
                <a:solidFill>
                  <a:srgbClr val="1A1A2E"/>
                </a:solidFill>
                <a:latin typeface="Cambria Math"/>
              </a:rPr>
              <a:t>  p(v) log </a:t>
            </a:r>
            <a:r>
              <a:rPr sz="2200" i="0">
                <a:solidFill>
                  <a:srgbClr val="2D6AA3"/>
                </a:solidFill>
                <a:latin typeface="Cambria Math"/>
              </a:rPr>
              <a:t>p(v)</a:t>
            </a:r>
            <a:r>
              <a:rPr sz="2200" i="0">
                <a:solidFill>
                  <a:srgbClr val="5A5A6E"/>
                </a:solidFill>
                <a:latin typeface="Cambria Math"/>
              </a:rPr>
              <a:t> / </a:t>
            </a:r>
            <a:r>
              <a:rPr sz="2200" i="0">
                <a:solidFill>
                  <a:srgbClr val="1E7A53"/>
                </a:solidFill>
                <a:latin typeface="Cambria Math"/>
              </a:rPr>
              <a:t>q(v)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5A5A6E"/>
                </a:solidFill>
                <a:latin typeface="Segoe UI"/>
              </a:rPr>
              <a:t>v runs over the 405-token vocabulary. 25% of tokens masked, spans ~N(3.5, 1.0), matching the original pretraining recipe.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3611880"/>
          <a:ext cx="10524744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2075688"/>
                <a:gridCol w="2075688"/>
                <a:gridCol w="2075688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Benchmark set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Before learning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With teacher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Without teacher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Segoe UI"/>
                        </a:rPr>
                        <a:t>PAMPA (permeability)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A5A6E"/>
                          </a:solidFill>
                          <a:latin typeface="Segoe UI"/>
                        </a:rPr>
                        <a:t>0.288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53"/>
                          </a:solidFill>
                          <a:latin typeface="Segoe UI"/>
                        </a:rPr>
                        <a:t>0.160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A5A6E"/>
                          </a:solidFill>
                          <a:latin typeface="Segoe UI"/>
                        </a:rPr>
                        <a:t>0.388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Segoe UI"/>
                        </a:rPr>
                        <a:t>CellPPD (cell penetration)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A5A6E"/>
                          </a:solidFill>
                          <a:latin typeface="Segoe UI"/>
                        </a:rPr>
                        <a:t>0.395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53"/>
                          </a:solidFill>
                          <a:latin typeface="Segoe UI"/>
                        </a:rPr>
                        <a:t>0.250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A5A6E"/>
                          </a:solidFill>
                          <a:latin typeface="Segoe UI"/>
                        </a:rPr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Segoe UI"/>
                        </a:rPr>
                        <a:t>AmpHGT (antimicrobial)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A5A6E"/>
                          </a:solidFill>
                          <a:latin typeface="Segoe UI"/>
                        </a:rPr>
                        <a:t>0.219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53"/>
                          </a:solidFill>
                          <a:latin typeface="Segoe UI"/>
                        </a:rPr>
                        <a:t>0.106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A5A6E"/>
                          </a:solidFill>
                          <a:latin typeface="Segoe UI"/>
                        </a:rPr>
                        <a:t>1.189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Segoe UI"/>
                        </a:rPr>
                        <a:t>THPep (tumour homing)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A5A6E"/>
                          </a:solidFill>
                          <a:latin typeface="Segoe UI"/>
                        </a:rPr>
                        <a:t>0.155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7A53"/>
                          </a:solidFill>
                          <a:latin typeface="Segoe UI"/>
                        </a:rPr>
                        <a:t>0.036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A5A6E"/>
                          </a:solidFill>
                          <a:latin typeface="Segoe UI"/>
                        </a:rPr>
                        <a:t>1.154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9436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5A5A6E"/>
                </a:solidFill>
                <a:latin typeface="Segoe UI"/>
              </a:rPr>
              <a:t>Teacher evaluated live at full precision; benchmark molecules were held out of the distillation corpus.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A1A2E"/>
                </a:solidFill>
                <a:latin typeface="Segoe UI"/>
              </a:rPr>
              <a:t>Where we 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463040" cy="54864"/>
          </a:xfrm>
          <a:prstGeom prst="rect">
            <a:avLst/>
          </a:prstGeom>
          <a:solidFill>
            <a:srgbClr val="2D6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4937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1E7A53"/>
                </a:solidFill>
                <a:latin typeface="Segoe UI"/>
              </a:rPr>
              <a:t>Done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Reproduced the original paper's results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Built a 2 million molecule dataset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Trained and compared both students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37360"/>
            <a:ext cx="4937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2D6AA3"/>
                </a:solidFill>
                <a:latin typeface="Segoe UI"/>
              </a:rPr>
              <a:t>The open question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The student thinks more like the teacher.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Does that make it better at the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5A5A6E"/>
                </a:solidFill>
                <a:latin typeface="Segoe UI"/>
              </a:rPr>
              <a:t>actual job scientists need?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A1A2E"/>
                </a:solidFill>
                <a:latin typeface="Segoe UI"/>
              </a:rPr>
              <a:t>Next step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5A5A6E"/>
                </a:solidFill>
                <a:latin typeface="Segoe UI"/>
              </a:rPr>
              <a:t>Test both students on real drug-discovery tasks — predicting whether a molecule can cross a cell membrane.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2D6AA3"/>
                </a:solidFill>
                <a:latin typeface="Segoe UI"/>
              </a:rPr>
              <a:t>Matching the teacher is not the goal. Being useful 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